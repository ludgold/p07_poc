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B530392-35BB-6A8A-B06C-1E81D5C8EF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A6F9AAB-5763-8078-A091-3617E92981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28B6CF4-CE89-0373-F335-EDB8465AE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450455-501A-F1C9-C076-11B414B6D3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12BD75F-5081-1E97-748F-CEF7F285A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8890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3FE0EF5-AEB9-BA3F-8F5D-1304ED6D9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ED4C8E-D5C8-FCB0-EB6C-9A208A22B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18B34BE-39C8-1C33-83AB-47666D74F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C41C8F1-D659-5676-9C03-E40964B9E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3417049-C82B-F537-5D76-3A2CA1D72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2056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F0F6E7-AB05-18BF-9732-636C21CE1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82E4349-9C5A-6413-CD9D-3BC2D99D9E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9BF0723-E49D-92C4-D8BA-BF68D5D9A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014CF8-48D0-2037-8B53-65F8B042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CFD9DDB-C934-7736-9FFF-7309AED81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26607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E2D9C88-B5F5-2D85-0988-BDEC3419A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748402A-AFB8-4716-49C0-0E4C7AC3AB6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CF9CA7A-CF39-DA64-C549-0BDEA3B74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E439AB0-31E4-611B-E5DF-7DE44AB20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6AD2538-5E88-15F0-25E9-23CC1292A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B7AC6CD-8250-86BF-519B-8AB632EC1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6241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CBB69C-7F94-8519-A092-EDF48B363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75B27E-FD97-69AC-3BFE-9746CD6DC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818608-5382-AD2F-533B-C6A9758A6D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80E73313-A568-2E2F-DC84-8EDCCFD1EB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9EE8FC8-339E-FCA4-CA8A-7854B2F531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72A3EDD-0D5C-3C6D-4898-F72724400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6C91AB78-13FF-4F4A-1289-5C376B4DB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3C15841-65E6-D999-7173-295A43394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4941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E7A833-435E-189D-19C9-E14B171C7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15F2DBE-AE73-3608-0AC7-F116573DB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48F87BF8-70BA-E9B6-B12F-34F4B0270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8F798F2D-1F0F-0FAB-1162-B9EFC7BA8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53968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3819C76-206E-6EB7-DF57-94E4D4FBB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7E6F03-87F9-311A-EC48-3C10D49D8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59EEB8C-CB90-6B37-20D2-DE496BA45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75717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F9860C-DC83-7B55-1030-CB72AE5A9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0FFF693-F412-1479-E558-A0FB66945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57DAF8D-A63E-E9BC-8D4F-E6A96A4FDA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6B8F46-C5FD-4CD6-D241-BD609F64E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3FFA424-2A79-5FBE-8496-DE84E7DBB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9AD278F-4F1A-20DA-0427-A12E4F32F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00702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7CA992-1BA4-F4C4-BEFF-AB69D7EE1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020EC5-7E5F-494F-ED7A-7C47616F1E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7DE2A92-CCB3-3BB4-23CD-88ED235C3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C8631A1-1AB4-8892-E89B-B747A5EEF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36BC339-331E-8593-F74E-FBDB650F8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EC758B4-CD6E-B3F4-EEA8-D16F5BDCB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14658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076DD0-96E9-DE9D-8EBD-2419B8845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67C9060-7E2D-8C8F-71B3-3313AFD08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3883D87-C9AC-7F96-7621-97538636B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658CAA-5AAB-5F92-BD24-B5852DAA4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AA628ED-D1FC-7315-1CD5-6F1D313FED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357743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817AA29-0EE0-042A-3ED8-34BB1F81CC9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DD28F40F-46F6-E8DC-66AE-D86338E81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C471C9-6F42-F38B-5E76-44E4ED9CF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F4B093C-AE16-B9BC-EF5A-6D0394272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DD35537-2DE7-47D3-CC24-CB28C0733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32964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4E93CB4-352B-A83D-5718-ACC6E1554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96F50F-22FD-7494-3602-234E1D6AC1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3FE5C05-811E-BFBF-1D30-23A42F70B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D7D456-559D-4696-BBB8-8507F6F5D093}" type="datetimeFigureOut">
              <a:rPr lang="fr-FR" smtClean="0"/>
              <a:t>02/03/2026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5395038-6691-CCAD-49AD-BA57BB17C1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E37A0B-6657-B1FC-D396-13CA5E54F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7DDE9B-E13D-4213-9620-27841370FD3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0577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39DDED-D259-F7A1-5F24-AF5A4E3A9C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9280" y="360363"/>
            <a:ext cx="10281920" cy="1051878"/>
          </a:xfrm>
        </p:spPr>
        <p:txBody>
          <a:bodyPr/>
          <a:lstStyle/>
          <a:p>
            <a:r>
              <a:rPr lang="fr-FR" dirty="0"/>
              <a:t>Plan de travail prévisionnel </a:t>
            </a:r>
          </a:p>
        </p:txBody>
      </p:sp>
      <p:sp>
        <p:nvSpPr>
          <p:cNvPr id="4" name="Titre 1">
            <a:extLst>
              <a:ext uri="{FF2B5EF4-FFF2-40B4-BE49-F238E27FC236}">
                <a16:creationId xmlns:a16="http://schemas.microsoft.com/office/drawing/2014/main" id="{75433B64-10D2-2860-D6B9-9A3C593390CD}"/>
              </a:ext>
            </a:extLst>
          </p:cNvPr>
          <p:cNvSpPr txBox="1">
            <a:spLocks/>
          </p:cNvSpPr>
          <p:nvPr/>
        </p:nvSpPr>
        <p:spPr>
          <a:xfrm>
            <a:off x="589280" y="1742123"/>
            <a:ext cx="10281920" cy="10518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85000" lnSpcReduction="1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 err="1"/>
              <a:t>Dataset</a:t>
            </a:r>
            <a:r>
              <a:rPr lang="fr-FR" dirty="0"/>
              <a:t> choisi : Stanford </a:t>
            </a:r>
            <a:r>
              <a:rPr lang="fr-FR" dirty="0" err="1"/>
              <a:t>Dogs</a:t>
            </a:r>
            <a:r>
              <a:rPr lang="fr-FR" dirty="0"/>
              <a:t> </a:t>
            </a:r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8D3B4A49-10FC-C567-41D3-582A4C868546}"/>
              </a:ext>
            </a:extLst>
          </p:cNvPr>
          <p:cNvSpPr txBox="1">
            <a:spLocks/>
          </p:cNvSpPr>
          <p:nvPr/>
        </p:nvSpPr>
        <p:spPr>
          <a:xfrm>
            <a:off x="121920" y="3271521"/>
            <a:ext cx="11795760" cy="105187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dirty="0"/>
              <a:t>Technique et modèle utilisé : </a:t>
            </a:r>
            <a:r>
              <a:rPr lang="fr-FR" dirty="0" err="1"/>
              <a:t>Swin</a:t>
            </a:r>
            <a:r>
              <a:rPr lang="fr-FR" dirty="0"/>
              <a:t> Transformer 2021</a:t>
            </a:r>
          </a:p>
          <a:p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B09EFD9-EF29-947E-1D61-0D314DA2A3D8}"/>
              </a:ext>
            </a:extLst>
          </p:cNvPr>
          <p:cNvSpPr txBox="1"/>
          <p:nvPr/>
        </p:nvSpPr>
        <p:spPr>
          <a:xfrm>
            <a:off x="589280" y="4872336"/>
            <a:ext cx="1068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https://openaccess.thecvf.com/content/ICCV2021/papers/Liu_Swin_Transformer_Hierarchical_Vision_Transformer_Using_Shifted_Windows_ICCV_2021_paper.pdf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4097B43-A8A3-DCE0-3BE0-8402C02283BB}"/>
              </a:ext>
            </a:extLst>
          </p:cNvPr>
          <p:cNvSpPr txBox="1"/>
          <p:nvPr/>
        </p:nvSpPr>
        <p:spPr>
          <a:xfrm>
            <a:off x="589280" y="4154588"/>
            <a:ext cx="106883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Article de référence : </a:t>
            </a:r>
            <a:r>
              <a:rPr lang="fr-FR" b="1" dirty="0" err="1"/>
              <a:t>Swin</a:t>
            </a:r>
            <a:r>
              <a:rPr lang="fr-FR" b="1" dirty="0"/>
              <a:t> Transformer : </a:t>
            </a:r>
            <a:r>
              <a:rPr lang="fr-FR" b="1" dirty="0" err="1"/>
              <a:t>Hierarchical</a:t>
            </a:r>
            <a:r>
              <a:rPr lang="fr-FR" b="1" dirty="0"/>
              <a:t> Vision Transformer </a:t>
            </a:r>
            <a:r>
              <a:rPr lang="fr-FR" b="1" dirty="0" err="1"/>
              <a:t>using</a:t>
            </a:r>
            <a:r>
              <a:rPr lang="fr-FR" b="1" dirty="0"/>
              <a:t> </a:t>
            </a:r>
            <a:r>
              <a:rPr lang="fr-FR" b="1" dirty="0" err="1"/>
              <a:t>Shifted</a:t>
            </a:r>
            <a:r>
              <a:rPr lang="fr-FR" b="1" dirty="0"/>
              <a:t> Windows – Microsoft </a:t>
            </a:r>
            <a:r>
              <a:rPr lang="fr-FR" b="1" dirty="0" err="1"/>
              <a:t>Research</a:t>
            </a:r>
            <a:endParaRPr lang="fr-FR" b="1" dirty="0"/>
          </a:p>
        </p:txBody>
      </p:sp>
      <p:pic>
        <p:nvPicPr>
          <p:cNvPr id="6" name="Image 5" descr="Une image contenant texte, nombre&#10;&#10;Le contenu généré par l’IA peut être incorrect.">
            <a:extLst>
              <a:ext uri="{FF2B5EF4-FFF2-40B4-BE49-F238E27FC236}">
                <a16:creationId xmlns:a16="http://schemas.microsoft.com/office/drawing/2014/main" id="{0A22EE21-ABA5-7FB8-AE40-54724A84FA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677" y="637785"/>
            <a:ext cx="10364646" cy="558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3232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 descr="Une image contenant texte, capture d’écran, affichage, logiciel&#10;&#10;Le contenu généré par l’IA peut être incorrect.">
            <a:extLst>
              <a:ext uri="{FF2B5EF4-FFF2-40B4-BE49-F238E27FC236}">
                <a16:creationId xmlns:a16="http://schemas.microsoft.com/office/drawing/2014/main" id="{487B1E7D-9148-FA07-D783-FBC7FEE76A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5314" y="810493"/>
            <a:ext cx="6021213" cy="4948526"/>
          </a:xfrm>
          <a:prstGeom prst="rect">
            <a:avLst/>
          </a:prstGeom>
        </p:spPr>
      </p:pic>
      <p:pic>
        <p:nvPicPr>
          <p:cNvPr id="9" name="Image 8" descr="Une image contenant texte, Appareils électroniques, capture d’écran, affichage&#10;&#10;Le contenu généré par l’IA peut être incorrect.">
            <a:extLst>
              <a:ext uri="{FF2B5EF4-FFF2-40B4-BE49-F238E27FC236}">
                <a16:creationId xmlns:a16="http://schemas.microsoft.com/office/drawing/2014/main" id="{2EA032D5-1F7F-F104-23FD-C8BD64593B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473" y="2521334"/>
            <a:ext cx="4879784" cy="3626335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F0753FF5-7520-449B-B5D7-333A6DF67126}"/>
              </a:ext>
            </a:extLst>
          </p:cNvPr>
          <p:cNvSpPr txBox="1"/>
          <p:nvPr/>
        </p:nvSpPr>
        <p:spPr>
          <a:xfrm>
            <a:off x="1147864" y="6313251"/>
            <a:ext cx="14080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Best of CNN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1A32138-CCE6-71CC-3C93-D731D58CE7D5}"/>
              </a:ext>
            </a:extLst>
          </p:cNvPr>
          <p:cNvSpPr txBox="1"/>
          <p:nvPr/>
        </p:nvSpPr>
        <p:spPr>
          <a:xfrm>
            <a:off x="7548664" y="6050604"/>
            <a:ext cx="42732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Vision transformer le + récent (aout 2025)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0D25657-9CD2-A4C5-BAAC-5E77323E209A}"/>
              </a:ext>
            </a:extLst>
          </p:cNvPr>
          <p:cNvSpPr txBox="1"/>
          <p:nvPr/>
        </p:nvSpPr>
        <p:spPr>
          <a:xfrm>
            <a:off x="3917372" y="6325815"/>
            <a:ext cx="2575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Hebergé</a:t>
            </a:r>
            <a:r>
              <a:rPr lang="fr-FR" dirty="0"/>
              <a:t> sur streamlit.io</a:t>
            </a:r>
          </a:p>
        </p:txBody>
      </p:sp>
      <p:pic>
        <p:nvPicPr>
          <p:cNvPr id="16" name="Image 15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C87A2492-A368-30CA-FA23-ADB5CAA9B7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432" y="365426"/>
            <a:ext cx="4991797" cy="190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81709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7B924620-963C-5E27-A8C4-F08C639823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0339766"/>
              </p:ext>
            </p:extLst>
          </p:nvPr>
        </p:nvGraphicFramePr>
        <p:xfrm>
          <a:off x="1524099" y="729575"/>
          <a:ext cx="8553756" cy="4591355"/>
        </p:xfrm>
        <a:graphic>
          <a:graphicData uri="http://schemas.openxmlformats.org/drawingml/2006/table">
            <a:tbl>
              <a:tblPr/>
              <a:tblGrid>
                <a:gridCol w="2138439">
                  <a:extLst>
                    <a:ext uri="{9D8B030D-6E8A-4147-A177-3AD203B41FA5}">
                      <a16:colId xmlns:a16="http://schemas.microsoft.com/office/drawing/2014/main" val="826896199"/>
                    </a:ext>
                  </a:extLst>
                </a:gridCol>
                <a:gridCol w="2138439">
                  <a:extLst>
                    <a:ext uri="{9D8B030D-6E8A-4147-A177-3AD203B41FA5}">
                      <a16:colId xmlns:a16="http://schemas.microsoft.com/office/drawing/2014/main" val="3966277618"/>
                    </a:ext>
                  </a:extLst>
                </a:gridCol>
                <a:gridCol w="2138439">
                  <a:extLst>
                    <a:ext uri="{9D8B030D-6E8A-4147-A177-3AD203B41FA5}">
                      <a16:colId xmlns:a16="http://schemas.microsoft.com/office/drawing/2014/main" val="1493370038"/>
                    </a:ext>
                  </a:extLst>
                </a:gridCol>
                <a:gridCol w="2138439">
                  <a:extLst>
                    <a:ext uri="{9D8B030D-6E8A-4147-A177-3AD203B41FA5}">
                      <a16:colId xmlns:a16="http://schemas.microsoft.com/office/drawing/2014/main" val="781980875"/>
                    </a:ext>
                  </a:extLst>
                </a:gridCol>
              </a:tblGrid>
              <a:tr h="336539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Modèle</a:t>
                      </a:r>
                      <a:endParaRPr lang="fr-F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Accuracy (Test)</a:t>
                      </a:r>
                      <a:endParaRPr lang="fr-F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Top-5 Accuracy</a:t>
                      </a:r>
                      <a:endParaRPr lang="fr-F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Observations majeures</a:t>
                      </a:r>
                      <a:endParaRPr lang="fr-F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8186200"/>
                  </a:ext>
                </a:extLst>
              </a:tr>
              <a:tr h="14182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MobileNetV2</a:t>
                      </a:r>
                      <a:endParaRPr lang="fr-FR" sz="13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76.32%</a:t>
                      </a:r>
                      <a:endParaRPr lang="fr-F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96.02%</a:t>
                      </a: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Overfitting marqué</a:t>
                      </a:r>
                      <a:r>
                        <a:rPr lang="fr-FR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(&gt;10% d'écart). Modèle léger, idéal pour mobile mais moins précis sur des classes visuellement proches.</a:t>
                      </a: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9662501"/>
                  </a:ext>
                </a:extLst>
              </a:tr>
              <a:tr h="14182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ConvNext</a:t>
                      </a:r>
                      <a:endParaRPr lang="fr-F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88.53%</a:t>
                      </a:r>
                      <a:endParaRPr lang="fr-F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99.22%</a:t>
                      </a: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Excellent équilibre</a:t>
                      </a:r>
                      <a:r>
                        <a:rPr lang="fr-FR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Architecture CNN moderne qui surpasse largement MobileNetV2 tout en restant très stable.</a:t>
                      </a: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57792235"/>
                  </a:ext>
                </a:extLst>
              </a:tr>
              <a:tr h="141827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DINOv3 (ViT)</a:t>
                      </a:r>
                      <a:endParaRPr lang="fr-F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88.01%</a:t>
                      </a:r>
                      <a:endParaRPr lang="fr-FR" sz="13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98.74%</a:t>
                      </a: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fr-FR" sz="13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Haute performance</a:t>
                      </a:r>
                      <a:r>
                        <a:rPr lang="fr-F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. Utilise un Transformer (</a:t>
                      </a:r>
                      <a:r>
                        <a:rPr lang="fr-FR" sz="13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ViT</a:t>
                      </a:r>
                      <a:r>
                        <a:rPr lang="fr-F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). Résultats similaires à </a:t>
                      </a:r>
                      <a:r>
                        <a:rPr lang="fr-FR" sz="1300" dirty="0" err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ConvNext</a:t>
                      </a:r>
                      <a:r>
                        <a:rPr lang="fr-FR" sz="1300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, très robuste pour capturer les nuances des races.</a:t>
                      </a:r>
                    </a:p>
                  </a:txBody>
                  <a:tcPr marL="85432" marR="85432" marT="56955" marB="56955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01619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26181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1D6C9A-9485-1509-BB74-24A4C9BA33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 descr="Une image contenant texte, capture d’écran, Police, Page web&#10;&#10;Le contenu généré par l’IA peut être incorrect.">
            <a:extLst>
              <a:ext uri="{FF2B5EF4-FFF2-40B4-BE49-F238E27FC236}">
                <a16:creationId xmlns:a16="http://schemas.microsoft.com/office/drawing/2014/main" id="{C530B453-1A74-AD38-A7CA-F2C32BF5BE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3053" y="-61090"/>
            <a:ext cx="9725893" cy="698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4595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178</Words>
  <Application>Microsoft Office PowerPoint</Application>
  <PresentationFormat>Grand écran</PresentationFormat>
  <Paragraphs>24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Google Sans Text</vt:lpstr>
      <vt:lpstr>Thème Office</vt:lpstr>
      <vt:lpstr>Plan de travail prévisionnel </vt:lpstr>
      <vt:lpstr>Présentation PowerPoint</vt:lpstr>
      <vt:lpstr>Présentation PowerPoint</vt:lpstr>
      <vt:lpstr>Présentation PowerPoint</vt:lpstr>
    </vt:vector>
  </TitlesOfParts>
  <Company>Groupe Liebot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GOLDSTEIN Ludivine</dc:creator>
  <cp:lastModifiedBy>GOLDSTEIN Ludivine</cp:lastModifiedBy>
  <cp:revision>4</cp:revision>
  <dcterms:created xsi:type="dcterms:W3CDTF">2026-02-06T13:10:43Z</dcterms:created>
  <dcterms:modified xsi:type="dcterms:W3CDTF">2026-03-02T14:20:31Z</dcterms:modified>
</cp:coreProperties>
</file>